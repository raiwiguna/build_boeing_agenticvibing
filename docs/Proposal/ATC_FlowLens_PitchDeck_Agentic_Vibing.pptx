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arallelogram 26"/>
          <p:cNvSpPr/>
          <p:nvPr/>
        </p:nvSpPr>
        <p:spPr>
          <a:xfrm>
            <a:off x="6629400" y="-274320"/>
            <a:ext cx="6035040" cy="7498079"/>
          </a:xfrm>
          <a:prstGeom prst="parallelogram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5240" y="1005840"/>
            <a:ext cx="3383280" cy="4663440"/>
          </a:xfrm>
          <a:prstGeom prst="roundRect">
            <a:avLst/>
          </a:prstGeom>
          <a:solidFill>
            <a:srgbClr val="102D57"/>
          </a:solidFill>
          <a:ln w="12700">
            <a:solidFill>
              <a:srgbClr val="275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0050" y="1188720"/>
            <a:ext cx="473659" cy="4297679"/>
          </a:xfrm>
          <a:prstGeom prst="rect">
            <a:avLst/>
          </a:prstGeom>
          <a:solidFill>
            <a:srgbClr val="DD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99813" y="1417320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99813" y="1965960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99813" y="2514600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99813" y="3063239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99813" y="3611879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99813" y="4160520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99813" y="4709159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99813" y="5257799"/>
            <a:ext cx="60899" cy="164592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278063" y="1705356"/>
            <a:ext cx="1048817" cy="1632204"/>
          </a:xfrm>
          <a:prstGeom prst="line">
            <a:avLst/>
          </a:prstGeom>
          <a:ln w="1905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326880" y="1705356"/>
            <a:ext cx="1048816" cy="1632204"/>
          </a:xfrm>
          <a:prstGeom prst="line">
            <a:avLst/>
          </a:prstGeom>
          <a:ln w="1905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10800000">
            <a:off x="9225381" y="1845259"/>
            <a:ext cx="329184" cy="329184"/>
          </a:xfrm>
          <a:prstGeom prst="triangl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31375" y="3477463"/>
            <a:ext cx="310896" cy="182880"/>
          </a:xfrm>
          <a:prstGeom prst="round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94360" y="512064"/>
            <a:ext cx="297180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89788"/>
            <a:ext cx="282549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BUILD Indonesia  |  Aerospace &amp; Defense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1508760"/>
            <a:ext cx="612648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ATC FlowLens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2304288"/>
            <a:ext cx="539496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0">
                <a:solidFill>
                  <a:srgbClr val="D7E8FF"/>
                </a:solidFill>
                <a:latin typeface="Aptos"/>
              </a:rPr>
              <a:t>Explainable Runway Safety and ATC Decision-Support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3310128"/>
            <a:ext cx="46634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 proposal deck for BUILD Indonesia Hackathon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4892040"/>
            <a:ext cx="9144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7E8FF"/>
                </a:solidFill>
                <a:latin typeface="Aptos"/>
              </a:rPr>
              <a:t>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5166360"/>
            <a:ext cx="34747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Agentic Vibing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D7E8FF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D7E8FF"/>
                </a:solidFill>
                <a:latin typeface="Aptos"/>
              </a:rPr>
              <a:t>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Runway operations are time-critical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Controllers must connect aircraft, vehicles, runway status, weather, and communication within seconds.</a:t>
            </a:r>
          </a:p>
        </p:txBody>
      </p:sp>
      <p:sp>
        <p:nvSpPr>
          <p:cNvPr id="31" name="Oval 30"/>
          <p:cNvSpPr/>
          <p:nvPr/>
        </p:nvSpPr>
        <p:spPr>
          <a:xfrm>
            <a:off x="5166360" y="2816352"/>
            <a:ext cx="1417320" cy="141732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0952" y="3136392"/>
            <a:ext cx="1078992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ATC
Controller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1828800"/>
            <a:ext cx="1325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1952" y="1920240"/>
            <a:ext cx="11704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61A3A"/>
                </a:solidFill>
                <a:latin typeface="Aptos"/>
              </a:rPr>
              <a:t>Aircraft
tracks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87168" y="2112264"/>
            <a:ext cx="3383280" cy="1417320"/>
          </a:xfrm>
          <a:prstGeom prst="line">
            <a:avLst/>
          </a:prstGeom>
          <a:ln w="1270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160520" y="1600200"/>
            <a:ext cx="1325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1691640"/>
            <a:ext cx="11704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61A3A"/>
                </a:solidFill>
                <a:latin typeface="Aptos"/>
              </a:rPr>
              <a:t>Runway
status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18888" y="1883664"/>
            <a:ext cx="1051560" cy="1645920"/>
          </a:xfrm>
          <a:prstGeom prst="line">
            <a:avLst/>
          </a:prstGeom>
          <a:ln w="1270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40880" y="1783080"/>
            <a:ext cx="1325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4032" y="1874519"/>
            <a:ext cx="11704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61A3A"/>
                </a:solidFill>
                <a:latin typeface="Aptos"/>
              </a:rPr>
              <a:t>Vehicle
movement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5870448" y="2066543"/>
            <a:ext cx="1828800" cy="1463041"/>
          </a:xfrm>
          <a:prstGeom prst="line">
            <a:avLst/>
          </a:prstGeom>
          <a:ln w="1270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887968" y="2788920"/>
            <a:ext cx="1325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2880360"/>
            <a:ext cx="11704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61A3A"/>
                </a:solidFill>
                <a:latin typeface="Aptos"/>
              </a:rPr>
              <a:t>Weather &amp;
visibility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5870448" y="3072384"/>
            <a:ext cx="3675888" cy="457200"/>
          </a:xfrm>
          <a:prstGeom prst="line">
            <a:avLst/>
          </a:prstGeom>
          <a:ln w="1270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995160" y="4709160"/>
            <a:ext cx="1325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68312" y="4800600"/>
            <a:ext cx="11704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61A3A"/>
                </a:solidFill>
                <a:latin typeface="Aptos"/>
              </a:rPr>
              <a:t>Radio &amp;
readbacks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5870448" y="3529584"/>
            <a:ext cx="1783080" cy="1463040"/>
          </a:xfrm>
          <a:prstGeom prst="line">
            <a:avLst/>
          </a:prstGeom>
          <a:ln w="1270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041648" y="4892040"/>
            <a:ext cx="1325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0" y="4983479"/>
            <a:ext cx="11704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61A3A"/>
                </a:solidFill>
                <a:latin typeface="Aptos"/>
              </a:rPr>
              <a:t>Flight
strips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4700016" y="3529584"/>
            <a:ext cx="1170432" cy="1645919"/>
          </a:xfrm>
          <a:prstGeom prst="line">
            <a:avLst/>
          </a:prstGeom>
          <a:ln w="1270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691640" y="4023360"/>
            <a:ext cx="1325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64792" y="4114800"/>
            <a:ext cx="1170432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61A3A"/>
                </a:solidFill>
                <a:latin typeface="Aptos"/>
              </a:rPr>
              <a:t>Unit
coordination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350008" y="3529584"/>
            <a:ext cx="3520440" cy="777240"/>
          </a:xfrm>
          <a:prstGeom prst="line">
            <a:avLst/>
          </a:prstGeom>
          <a:ln w="1270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594360" y="5559552"/>
            <a:ext cx="110185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" y="5559552"/>
            <a:ext cx="73152" cy="56692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5724144"/>
            <a:ext cx="10698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1A3A"/>
                </a:solidFill>
                <a:latin typeface="Aptos"/>
              </a:rPr>
              <a:t>Core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6089904"/>
            <a:ext cx="10698480" cy="-91439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B6B84"/>
                </a:solidFill>
                <a:latin typeface="Aptos"/>
              </a:rPr>
              <a:t>When information is scattered across displays, voice communication, and human memory, runway conflict risk becomes harder to detect early.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Runway conflict is a real safety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Real incidents show how timing, communication, visibility, workload, and vehicle movement can combine into risk.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1901952"/>
            <a:ext cx="33375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" y="1901952"/>
            <a:ext cx="73152" cy="297180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2066544"/>
            <a:ext cx="30175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1A3A"/>
                </a:solidFill>
                <a:latin typeface="Aptos"/>
              </a:rPr>
              <a:t>LATAM Peru 2213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2432304"/>
            <a:ext cx="3017520" cy="23134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B84"/>
                </a:solidFill>
                <a:latin typeface="Aptos"/>
              </a:rPr>
              <a:t>Lima, 2022
Aircraft collided with a fire truck on the runway during takeoff roll.
Relevance: Aircraft-vehicle conflict near an active runway.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9704" y="1901952"/>
            <a:ext cx="33375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9704" y="1901952"/>
            <a:ext cx="73152" cy="29718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2066544"/>
            <a:ext cx="30175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1A3A"/>
                </a:solidFill>
                <a:latin typeface="Aptos"/>
              </a:rPr>
              <a:t>Austin-Bergstrom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2432304"/>
            <a:ext cx="3017520" cy="23134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B84"/>
                </a:solidFill>
                <a:latin typeface="Aptos"/>
              </a:rPr>
              <a:t>2023
Departure aircraft was cleared while another aircraft was on final approach in dense fog.
Relevance: Low visibility and runway status awareness.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84464" y="1901952"/>
            <a:ext cx="33375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84464" y="1901952"/>
            <a:ext cx="73152" cy="29718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2066544"/>
            <a:ext cx="30175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1A3A"/>
                </a:solidFill>
                <a:latin typeface="Aptos"/>
              </a:rPr>
              <a:t>LaGuardia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2432304"/>
            <a:ext cx="3017520" cy="23134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B84"/>
                </a:solidFill>
                <a:latin typeface="Aptos"/>
              </a:rPr>
              <a:t>2026 preliminary
Reports described fire truck crossing close to a landing aircraft in a high-workload environment.
Relevance: Time-to-conflict and workload awareness.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257800"/>
            <a:ext cx="102412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B84"/>
                </a:solidFill>
                <a:latin typeface="Aptos"/>
              </a:rPr>
              <a:t>Use as safety context, not as a claim that ATC FlowLens would have prevented these events.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5897880"/>
            <a:ext cx="9966960" cy="0"/>
          </a:xfrm>
          <a:prstGeom prst="line">
            <a:avLst/>
          </a:prstGeom>
          <a:ln w="25400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14400" y="5705856"/>
            <a:ext cx="1920240" cy="329184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5783580"/>
            <a:ext cx="17739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Aircraft on final / takeoff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17720" y="5705856"/>
            <a:ext cx="2057400" cy="329184"/>
          </a:xfrm>
          <a:prstGeom prst="round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5783580"/>
            <a:ext cx="1911095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61A3A"/>
                </a:solidFill>
                <a:latin typeface="Aptos"/>
              </a:rPr>
              <a:t>Vehicle entering / crossing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5705856"/>
            <a:ext cx="1600200" cy="329184"/>
          </a:xfrm>
          <a:prstGeom prst="round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5783580"/>
            <a:ext cx="145389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Conflict window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6473952"/>
            <a:ext cx="5943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0">
                <a:solidFill>
                  <a:srgbClr val="5B6B84"/>
                </a:solidFill>
                <a:latin typeface="Aptos"/>
              </a:rPr>
              <a:t>Sources: NTSB, Aviation Safety Network, AP preliminary reporting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Current systems help, but the picture can still be fragmented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ATC FlowLens is positioned as a support and training layer, not a replacement for certified systems.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828800"/>
            <a:ext cx="4023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61A3A"/>
                </a:solidFill>
                <a:latin typeface="Aptos"/>
              </a:rPr>
              <a:t>Existing ATC / ATM 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2331720"/>
            <a:ext cx="1691640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2409444"/>
            <a:ext cx="15453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Radar / ADS-B / MLAT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87752" y="2331720"/>
            <a:ext cx="1691640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0904" y="2409444"/>
            <a:ext cx="15453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Surface surveillance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2862072"/>
            <a:ext cx="1691640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2939796"/>
            <a:ext cx="15453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Electronic flight strips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87752" y="2862072"/>
            <a:ext cx="1691640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0904" y="2939796"/>
            <a:ext cx="15453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A-SMGCS / RIMCAS / ASDE-X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3392424"/>
            <a:ext cx="1691640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3470148"/>
            <a:ext cx="15453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STCA / MTCD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87752" y="3392424"/>
            <a:ext cx="1691640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60904" y="3470148"/>
            <a:ext cx="15453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CPDLC / Data Comm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" y="3922775"/>
            <a:ext cx="1691640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4000499"/>
            <a:ext cx="154533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SWIM / flight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1828800"/>
            <a:ext cx="4023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61A3A"/>
                </a:solidFill>
                <a:latin typeface="Aptos"/>
              </a:rPr>
              <a:t>Remaining operational gap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9552" y="2267712"/>
            <a:ext cx="5212080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65"/>
              </a:spcAft>
              <a:defRPr sz="1220">
                <a:solidFill>
                  <a:srgbClr val="061A3A"/>
                </a:solidFill>
                <a:latin typeface="Aptos"/>
              </a:defRPr>
            </a:pPr>
            <a:r>
              <a:t>• Not every airport has the same surface surveillance maturity.</a:t>
            </a:r>
          </a:p>
          <a:p>
            <a:pPr>
              <a:spcAft>
                <a:spcPts val="465"/>
              </a:spcAft>
              <a:defRPr sz="1220">
                <a:solidFill>
                  <a:srgbClr val="061A3A"/>
                </a:solidFill>
                <a:latin typeface="Aptos"/>
              </a:defRPr>
            </a:pPr>
            <a:r>
              <a:t>• Voice remains common in tower and ground operations.</a:t>
            </a:r>
          </a:p>
          <a:p>
            <a:pPr>
              <a:spcAft>
                <a:spcPts val="465"/>
              </a:spcAft>
              <a:defRPr sz="1220">
                <a:solidFill>
                  <a:srgbClr val="061A3A"/>
                </a:solidFill>
                <a:latin typeface="Aptos"/>
              </a:defRPr>
            </a:pPr>
            <a:r>
              <a:t>• Runway status, clearance, timing, and vehicle movement may sit in separate places.</a:t>
            </a:r>
          </a:p>
          <a:p>
            <a:pPr>
              <a:spcAft>
                <a:spcPts val="465"/>
              </a:spcAft>
              <a:defRPr sz="1220">
                <a:solidFill>
                  <a:srgbClr val="061A3A"/>
                </a:solidFill>
                <a:latin typeface="Aptos"/>
              </a:defRPr>
            </a:pPr>
            <a:r>
              <a:t>• Alerts are more useful when tied to an explainable event timeline.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5166360"/>
            <a:ext cx="8549640" cy="749808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5376672"/>
            <a:ext cx="80467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ATC FlowLens makes runway risk easier to understand through simulation, support views, and training replay.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6473952"/>
            <a:ext cx="5943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0">
                <a:solidFill>
                  <a:srgbClr val="5B6B84"/>
                </a:solidFill>
                <a:latin typeface="Aptos"/>
              </a:rPr>
              <a:t>Technology references: FAA NextGen, EUROCONTROL A-SMGCS, ICAO GANP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ATC FlowLens turns runway complexity into one operational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A decision-support dashboard for conflict risk, workload awareness, and event replay.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1828800"/>
            <a:ext cx="1097280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2048256"/>
            <a:ext cx="19202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84"/>
                </a:solidFill>
                <a:latin typeface="Aptos"/>
              </a:rPr>
              <a:t>Runway Map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2359152"/>
            <a:ext cx="3063240" cy="307238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13305" y="2542032"/>
            <a:ext cx="428853" cy="2706624"/>
          </a:xfrm>
          <a:prstGeom prst="rect">
            <a:avLst/>
          </a:prstGeom>
          <a:solidFill>
            <a:srgbClr val="19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03226" y="2770632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03226" y="3091978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03226" y="3413324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03226" y="3734670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03226" y="4056017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03226" y="4377363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03226" y="4698709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03226" y="5020056"/>
            <a:ext cx="55138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478127" y="2820009"/>
            <a:ext cx="949605" cy="1075335"/>
          </a:xfrm>
          <a:prstGeom prst="line">
            <a:avLst/>
          </a:prstGeom>
          <a:ln w="1905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427732" y="2820009"/>
            <a:ext cx="949604" cy="1075335"/>
          </a:xfrm>
          <a:prstGeom prst="line">
            <a:avLst/>
          </a:prstGeom>
          <a:ln w="19050">
            <a:solidFill>
              <a:srgbClr val="42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0800000">
            <a:off x="2335834" y="2912181"/>
            <a:ext cx="329184" cy="329184"/>
          </a:xfrm>
          <a:prstGeom prst="triangl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703423" y="3987515"/>
            <a:ext cx="310896" cy="182880"/>
          </a:xfrm>
          <a:prstGeom prst="round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2" y="2048256"/>
            <a:ext cx="2834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84"/>
                </a:solidFill>
                <a:latin typeface="Aptos"/>
              </a:rPr>
              <a:t>Arrival / Runway Sequence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79392" y="2505456"/>
            <a:ext cx="306324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79392" y="2505456"/>
            <a:ext cx="73152" cy="530352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59" y="267004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61A3A"/>
                </a:solidFill>
                <a:latin typeface="Aptos"/>
              </a:rPr>
              <a:t>BAW123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59" y="3035808"/>
            <a:ext cx="2743200" cy="-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ETA touchdown 42s  |  cleared to land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79392" y="3191256"/>
            <a:ext cx="306324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79392" y="3191256"/>
            <a:ext cx="73152" cy="53035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0559" y="335584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61A3A"/>
                </a:solidFill>
                <a:latin typeface="Aptos"/>
              </a:rPr>
              <a:t>SIA456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59" y="3721608"/>
            <a:ext cx="2743200" cy="-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ETA touchdown 260s  |  continue approach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79392" y="3877056"/>
            <a:ext cx="306324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79392" y="3877056"/>
            <a:ext cx="73152" cy="530352"/>
          </a:xfrm>
          <a:prstGeom prst="rect">
            <a:avLst/>
          </a:prstGeom>
          <a:solidFill>
            <a:srgbClr val="1E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0559" y="4041648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61A3A"/>
                </a:solidFill>
                <a:latin typeface="Aptos"/>
              </a:rPr>
              <a:t>QFA789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59" y="4407408"/>
            <a:ext cx="2743200" cy="-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ETA touchdown 410s  |  downwind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4112" y="2048256"/>
            <a:ext cx="3108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B84"/>
                </a:solidFill>
                <a:latin typeface="Aptos"/>
              </a:rPr>
              <a:t>Alert + Communication Timeline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54112" y="2423160"/>
            <a:ext cx="3273552" cy="1143000"/>
          </a:xfrm>
          <a:prstGeom prst="roundRect">
            <a:avLst/>
          </a:prstGeom>
          <a:solidFill>
            <a:srgbClr val="FFF1F0"/>
          </a:solidFill>
          <a:ln w="12700">
            <a:solidFill>
              <a:srgbClr val="F0A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6992" y="2578608"/>
            <a:ext cx="278892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4A3A"/>
                </a:solidFill>
                <a:latin typeface="Aptos"/>
              </a:rPr>
              <a:t>HIGH RUNWAY CONFLICT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36992" y="2871216"/>
            <a:ext cx="27432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61A3A"/>
                </a:solidFill>
                <a:latin typeface="Aptos"/>
              </a:rPr>
              <a:t>Vehicle clear time exceeds aircraft touchdown time by 16 seconds.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90688" y="3840480"/>
            <a:ext cx="658368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33A0"/>
                </a:solidFill>
                <a:latin typeface="Aptos"/>
              </a:rPr>
              <a:t>18:42:11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49056" y="3840480"/>
            <a:ext cx="2514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061A3A"/>
                </a:solidFill>
                <a:latin typeface="Aptos"/>
              </a:rPr>
              <a:t>BAW123 cleared to land RWY 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90688" y="4270248"/>
            <a:ext cx="658368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33A0"/>
                </a:solidFill>
                <a:latin typeface="Aptos"/>
              </a:rPr>
              <a:t>18:42:18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49056" y="4270248"/>
            <a:ext cx="2514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061A3A"/>
                </a:solidFill>
                <a:latin typeface="Aptos"/>
              </a:rPr>
              <a:t>ARFF2 cleared to cross RWY 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0688" y="4700016"/>
            <a:ext cx="658368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0033A0"/>
                </a:solidFill>
                <a:latin typeface="Aptos"/>
              </a:rPr>
              <a:t>18:42:21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49056" y="4700016"/>
            <a:ext cx="25146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061A3A"/>
                </a:solidFill>
                <a:latin typeface="Aptos"/>
              </a:rPr>
              <a:t>Alert triggered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HOW IT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From simulated operational data to explainable runway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The MVP can prove the core logic without sensitive live ATC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847088"/>
            <a:ext cx="2999232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1847088"/>
            <a:ext cx="73152" cy="25420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2011680"/>
            <a:ext cx="267919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61A3A"/>
                </a:solidFill>
                <a:latin typeface="Aptos"/>
              </a:rPr>
              <a:t>Inputs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2377440"/>
            <a:ext cx="2679191" cy="188366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5B6B84"/>
                </a:solidFill>
                <a:latin typeface="Aptos"/>
              </a:rPr>
              <a:t>Aircraft position, speed, phase
Vehicle position and status
Runway and taxiway layout
Clearance and communication log
Weather and visibility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94760" y="3072384"/>
            <a:ext cx="594360" cy="0"/>
          </a:xfrm>
          <a:prstGeom prst="line">
            <a:avLst/>
          </a:prstGeom>
          <a:ln w="25400">
            <a:solidFill>
              <a:srgbClr val="003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62272" y="1847088"/>
            <a:ext cx="2999232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62272" y="1847088"/>
            <a:ext cx="73152" cy="2542032"/>
          </a:xfrm>
          <a:prstGeom prst="rect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2011680"/>
            <a:ext cx="267919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61A3A"/>
                </a:solidFill>
                <a:latin typeface="Aptos"/>
              </a:rPr>
              <a:t>Processing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377440"/>
            <a:ext cx="2679191" cy="188366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5B6B84"/>
                </a:solidFill>
                <a:latin typeface="Aptos"/>
              </a:rPr>
              <a:t>Runway occupancy model
Clearance state engine
Time-to-conflict calculation
Workload scoring
Severity and explanation logic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25512" y="3072384"/>
            <a:ext cx="594359" cy="0"/>
          </a:xfrm>
          <a:prstGeom prst="line">
            <a:avLst/>
          </a:prstGeom>
          <a:ln w="25400">
            <a:solidFill>
              <a:srgbClr val="003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193024" y="1847088"/>
            <a:ext cx="2999232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1847088"/>
            <a:ext cx="73152" cy="2542032"/>
          </a:xfrm>
          <a:prstGeom prst="rect">
            <a:avLst/>
          </a:prstGeom>
          <a:solidFill>
            <a:srgbClr val="1E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2011680"/>
            <a:ext cx="2679191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61A3A"/>
                </a:solidFill>
                <a:latin typeface="Aptos"/>
              </a:rPr>
              <a:t>Outputs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2377440"/>
            <a:ext cx="2679191" cy="188366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5B6B84"/>
                </a:solidFill>
                <a:latin typeface="Aptos"/>
              </a:rPr>
              <a:t>Runway map dashboard
Conflict alert and reason
Recommended action category
Workload indicator
Replay timeline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70432" y="4882896"/>
            <a:ext cx="9829800" cy="914400"/>
          </a:xfrm>
          <a:prstGeom prst="round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17320" y="5120640"/>
            <a:ext cx="92811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Example rule: IF aircraft is cleared to land AND vehicle is cleared to cross the same runway AND vehicle clear time &gt; aircraft touchdown time, THEN trigger HIGH conflict alert.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A focused demo scenario keeps the prototype buildable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Simulation-first scope makes the idea credible for a hackathon and safe from live-data dependency.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" y="2103120"/>
            <a:ext cx="420624" cy="42062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2199132"/>
            <a:ext cx="219456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15568" y="2313432"/>
            <a:ext cx="1600200" cy="0"/>
          </a:xfrm>
          <a:prstGeom prst="line">
            <a:avLst/>
          </a:prstGeom>
          <a:ln w="25400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2788920"/>
            <a:ext cx="1874519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2788920"/>
            <a:ext cx="73152" cy="115214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2953512"/>
            <a:ext cx="155447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1A3A"/>
                </a:solidFill>
                <a:latin typeface="Aptos"/>
              </a:rPr>
              <a:t>Aircraft BAW123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3319272"/>
            <a:ext cx="1554479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Final approach and cleared to land.</a:t>
            </a:r>
          </a:p>
        </p:txBody>
      </p:sp>
      <p:sp>
        <p:nvSpPr>
          <p:cNvPr id="38" name="Oval 37"/>
          <p:cNvSpPr/>
          <p:nvPr/>
        </p:nvSpPr>
        <p:spPr>
          <a:xfrm>
            <a:off x="2916936" y="2103120"/>
            <a:ext cx="420624" cy="42062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2199132"/>
            <a:ext cx="219456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74136" y="2313432"/>
            <a:ext cx="1600200" cy="0"/>
          </a:xfrm>
          <a:prstGeom prst="line">
            <a:avLst/>
          </a:prstGeom>
          <a:ln w="25400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916936" y="2788920"/>
            <a:ext cx="1874519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16936" y="2788920"/>
            <a:ext cx="73152" cy="115214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8104" y="2953512"/>
            <a:ext cx="155447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1A3A"/>
                </a:solidFill>
                <a:latin typeface="Aptos"/>
              </a:rPr>
              <a:t>Vehicle ARFF-2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18104" y="3319272"/>
            <a:ext cx="1554479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Receives runway crossing clearance.</a:t>
            </a:r>
          </a:p>
        </p:txBody>
      </p:sp>
      <p:sp>
        <p:nvSpPr>
          <p:cNvPr id="45" name="Oval 44"/>
          <p:cNvSpPr/>
          <p:nvPr/>
        </p:nvSpPr>
        <p:spPr>
          <a:xfrm>
            <a:off x="5175504" y="2103120"/>
            <a:ext cx="420624" cy="42062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76088" y="2199132"/>
            <a:ext cx="219456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32704" y="2313432"/>
            <a:ext cx="1600200" cy="0"/>
          </a:xfrm>
          <a:prstGeom prst="line">
            <a:avLst/>
          </a:prstGeom>
          <a:ln w="25400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175504" y="2788920"/>
            <a:ext cx="1874519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75504" y="2788920"/>
            <a:ext cx="73152" cy="115214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6672" y="2953512"/>
            <a:ext cx="155447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1A3A"/>
                </a:solidFill>
                <a:latin typeface="Aptos"/>
              </a:rPr>
              <a:t>Prediction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6672" y="3319272"/>
            <a:ext cx="1554479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System estimates touchdown and clear time.</a:t>
            </a:r>
          </a:p>
        </p:txBody>
      </p:sp>
      <p:sp>
        <p:nvSpPr>
          <p:cNvPr id="52" name="Oval 51"/>
          <p:cNvSpPr/>
          <p:nvPr/>
        </p:nvSpPr>
        <p:spPr>
          <a:xfrm>
            <a:off x="7434072" y="2103120"/>
            <a:ext cx="420624" cy="420624"/>
          </a:xfrm>
          <a:prstGeom prst="ellipse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34656" y="2199132"/>
            <a:ext cx="219456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891272" y="2313432"/>
            <a:ext cx="1600200" cy="0"/>
          </a:xfrm>
          <a:prstGeom prst="line">
            <a:avLst/>
          </a:prstGeom>
          <a:ln w="25400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434072" y="2788920"/>
            <a:ext cx="1874519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34072" y="2788920"/>
            <a:ext cx="73152" cy="115214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35240" y="2953512"/>
            <a:ext cx="155447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1A3A"/>
                </a:solidFill>
                <a:latin typeface="Aptos"/>
              </a:rPr>
              <a:t>Conflict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319272"/>
            <a:ext cx="1554479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Vehicle may still occupy runway.</a:t>
            </a:r>
          </a:p>
        </p:txBody>
      </p:sp>
      <p:sp>
        <p:nvSpPr>
          <p:cNvPr id="59" name="Oval 58"/>
          <p:cNvSpPr/>
          <p:nvPr/>
        </p:nvSpPr>
        <p:spPr>
          <a:xfrm>
            <a:off x="9692640" y="2103120"/>
            <a:ext cx="420624" cy="420624"/>
          </a:xfrm>
          <a:prstGeom prst="ellipse">
            <a:avLst/>
          </a:prstGeom>
          <a:solidFill>
            <a:srgbClr val="1E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93224" y="2199132"/>
            <a:ext cx="219456" cy="1371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2788920"/>
            <a:ext cx="1874519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92640" y="2788920"/>
            <a:ext cx="73152" cy="115214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93808" y="2953512"/>
            <a:ext cx="1554479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1A3A"/>
                </a:solidFill>
                <a:latin typeface="Aptos"/>
              </a:rPr>
              <a:t>FlowLens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93808" y="3319272"/>
            <a:ext cx="1554479" cy="4937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Alert, explanation, workload, replay.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4617720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61A3A"/>
                </a:solidFill>
                <a:latin typeface="Aptos"/>
              </a:rPr>
              <a:t>Build priority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7240" y="5074920"/>
            <a:ext cx="1874519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0392" y="5152644"/>
            <a:ext cx="172821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data model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26080" y="5074920"/>
            <a:ext cx="1874519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9232" y="5152644"/>
            <a:ext cx="172821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map visualization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74920" y="5074920"/>
            <a:ext cx="1874519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48072" y="5152644"/>
            <a:ext cx="172821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clearance engine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23760" y="5074920"/>
            <a:ext cx="1874519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96912" y="5152644"/>
            <a:ext cx="172821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time-to-conflict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7240" y="5550408"/>
            <a:ext cx="1874519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0392" y="5628132"/>
            <a:ext cx="172821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alert explanation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926080" y="5550408"/>
            <a:ext cx="1874519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99232" y="5628132"/>
            <a:ext cx="172821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workload score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74920" y="5550408"/>
            <a:ext cx="1874519" cy="329184"/>
          </a:xfrm>
          <a:prstGeom prst="roundRect">
            <a:avLst/>
          </a:prstGeom>
          <a:solidFill>
            <a:srgbClr val="D7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48072" y="5628132"/>
            <a:ext cx="1728216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replay mode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USERS &amp; BUSINESS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Start with training and safety awareness before live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A realistic adoption path creates value while avoiding premature certification claims.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1874519"/>
            <a:ext cx="217627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1952243"/>
            <a:ext cx="2029967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Tower controllers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1874519"/>
            <a:ext cx="217627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73552" y="1952243"/>
            <a:ext cx="2029967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Ground controllers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2386584"/>
            <a:ext cx="217627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2464308"/>
            <a:ext cx="2029967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Approach controllers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2386584"/>
            <a:ext cx="217627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73552" y="2464308"/>
            <a:ext cx="2029967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Airport operation centers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2898648"/>
            <a:ext cx="217627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2976372"/>
            <a:ext cx="2029967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ARFF units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0" y="2898648"/>
            <a:ext cx="217627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3552" y="2976372"/>
            <a:ext cx="2029967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ATC training centers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3410712"/>
            <a:ext cx="2176272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3488436"/>
            <a:ext cx="2029967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033A0"/>
                </a:solidFill>
                <a:latin typeface="Aptos"/>
              </a:rPr>
              <a:t>Safety investigators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1874519"/>
            <a:ext cx="34747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61A3A"/>
                </a:solidFill>
                <a:latin typeface="Aptos"/>
              </a:rPr>
              <a:t>Initial market positioning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2267712"/>
            <a:ext cx="49194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89320" y="2267712"/>
            <a:ext cx="73152" cy="9601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2432304"/>
            <a:ext cx="459943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61A3A"/>
                </a:solidFill>
                <a:latin typeface="Aptos"/>
              </a:rPr>
              <a:t>Simulation, training, and runway safety awareness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0488" y="2798064"/>
            <a:ext cx="4599432" cy="3017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B84"/>
                </a:solidFill>
                <a:latin typeface="Aptos"/>
              </a:rPr>
              <a:t>For airports, aviation schools, ANSPs, and airport operation teams.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4572000"/>
            <a:ext cx="443484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4572000"/>
            <a:ext cx="73152" cy="530352"/>
          </a:xfrm>
          <a:prstGeom prst="rect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" y="4736592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61A3A"/>
                </a:solidFill>
                <a:latin typeface="Aptos"/>
              </a:rPr>
              <a:t>Training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" y="5102352"/>
            <a:ext cx="4114800" cy="-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Better runway conflict scenarios.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572000"/>
            <a:ext cx="443484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4572000"/>
            <a:ext cx="73152" cy="530352"/>
          </a:xfrm>
          <a:prstGeom prst="rect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4736592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61A3A"/>
                </a:solidFill>
                <a:latin typeface="Aptos"/>
              </a:rPr>
              <a:t>Review speed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1888" y="5102352"/>
            <a:ext cx="4114800" cy="-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Clearer event timelines.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5285232"/>
            <a:ext cx="443484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5285232"/>
            <a:ext cx="73152" cy="530352"/>
          </a:xfrm>
          <a:prstGeom prst="rect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" y="5449824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61A3A"/>
                </a:solidFill>
                <a:latin typeface="Aptos"/>
              </a:rPr>
              <a:t>Operational readiness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" y="5815584"/>
            <a:ext cx="4114800" cy="-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Safer tower-ground-emergency coordination.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60720" y="5285232"/>
            <a:ext cx="4434840" cy="530352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60720" y="5285232"/>
            <a:ext cx="73152" cy="530352"/>
          </a:xfrm>
          <a:prstGeom prst="rect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61888" y="5449824"/>
            <a:ext cx="4114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61A3A"/>
                </a:solidFill>
                <a:latin typeface="Aptos"/>
              </a:rPr>
              <a:t>Expansion path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1888" y="5815584"/>
            <a:ext cx="4114800" cy="-12801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B6B84"/>
                </a:solidFill>
                <a:latin typeface="Aptos"/>
              </a:rPr>
              <a:t>Speech-to-text, readback mismatch, richer analytics.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C8D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33A0"/>
                </a:solidFill>
                <a:latin typeface="Aptos"/>
              </a:rPr>
              <a:t>IMPACT &amp;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1A3A"/>
                </a:solidFill>
                <a:latin typeface="Aptos"/>
              </a:rPr>
              <a:t>Advanced technology applied to a real aerospace safety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481328"/>
            <a:ext cx="7772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5B6B84"/>
                </a:solidFill>
                <a:latin typeface="Aptos"/>
              </a:rPr>
              <a:t>The concept connects safety, training, operational readiness, and sustainability.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1828800"/>
            <a:ext cx="4800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828800"/>
            <a:ext cx="73152" cy="8686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1993392"/>
            <a:ext cx="4480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1A3A"/>
                </a:solidFill>
                <a:latin typeface="Aptos"/>
              </a:rPr>
              <a:t>Earlier risk recognition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2359152"/>
            <a:ext cx="4480560" cy="210311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B84"/>
                </a:solidFill>
                <a:latin typeface="Aptos"/>
              </a:rPr>
              <a:t>See aircraft, vehicle, clearance, and timing in one 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1828800"/>
            <a:ext cx="4800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1828800"/>
            <a:ext cx="73152" cy="868680"/>
          </a:xfrm>
          <a:prstGeom prst="rect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1993392"/>
            <a:ext cx="4480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1A3A"/>
                </a:solidFill>
                <a:latin typeface="Aptos"/>
              </a:rPr>
              <a:t>Better workload awareness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359152"/>
            <a:ext cx="4480560" cy="210311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B84"/>
                </a:solidFill>
                <a:latin typeface="Aptos"/>
              </a:rPr>
              <a:t>Expose active risk factors before task saturation.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2999232"/>
            <a:ext cx="4800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2999232"/>
            <a:ext cx="73152" cy="868680"/>
          </a:xfrm>
          <a:prstGeom prst="rect">
            <a:avLst/>
          </a:prstGeom>
          <a:solidFill>
            <a:srgbClr val="1E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3163824"/>
            <a:ext cx="4480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1A3A"/>
                </a:solidFill>
                <a:latin typeface="Aptos"/>
              </a:rPr>
              <a:t>Stronger training replay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" y="3529584"/>
            <a:ext cx="4480560" cy="210311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B84"/>
                </a:solidFill>
                <a:latin typeface="Aptos"/>
              </a:rPr>
              <a:t>Review why a conflict happened and what contributed.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2999232"/>
            <a:ext cx="4800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80760" y="2999232"/>
            <a:ext cx="73152" cy="86868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8" y="3163824"/>
            <a:ext cx="4480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1A3A"/>
                </a:solidFill>
                <a:latin typeface="Aptos"/>
              </a:rPr>
              <a:t>Sustainability upside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3529584"/>
            <a:ext cx="4480560" cy="210311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B84"/>
                </a:solidFill>
                <a:latin typeface="Aptos"/>
              </a:rPr>
              <a:t>Future versions may reduce avoidable go-arounds, taxi delay, holding, and fuel burn.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" y="4800600"/>
            <a:ext cx="10287000" cy="86868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4965192"/>
            <a:ext cx="22860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D7E8FF"/>
                </a:solidFill>
                <a:latin typeface="Aptos"/>
              </a:rPr>
              <a:t>BUILD Indonesia alignment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5257800"/>
            <a:ext cx="90525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Aerospace &amp; Defense  |  Advanced Technology and Innovation  |  Social Impact and Sustainability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4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5B6B84"/>
                </a:solidFill>
                <a:latin typeface="Aptos"/>
              </a:rPr>
              <a:t>09/10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0835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41670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12506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83341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54176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25012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6682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37518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08353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79189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50024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20859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4445">
            <a:solidFill>
              <a:srgbClr val="143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0352" y="393192"/>
            <a:ext cx="109728" cy="109728"/>
          </a:xfrm>
          <a:prstGeom prst="ellipse">
            <a:avLst/>
          </a:prstGeom>
          <a:solidFill>
            <a:srgbClr val="42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9184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D7E8FF"/>
                </a:solidFill>
                <a:latin typeface="Aptos"/>
              </a:rPr>
              <a:t>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749808"/>
            <a:ext cx="80467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From hackathon MVP to aviation safety training platform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920240"/>
            <a:ext cx="3063240" cy="2697480"/>
          </a:xfrm>
          <a:prstGeom prst="roundRect">
            <a:avLst/>
          </a:prstGeom>
          <a:solidFill>
            <a:srgbClr val="0D2A55"/>
          </a:solidFill>
          <a:ln w="12700">
            <a:solidFill>
              <a:srgbClr val="214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148840"/>
            <a:ext cx="1188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42A5FF"/>
                </a:solidFill>
                <a:latin typeface="Aptos"/>
              </a:rPr>
              <a:t>PHASE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487168"/>
            <a:ext cx="2514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Hackathon MVP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926080"/>
            <a:ext cx="2560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simulated runway map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aircraft and vehicle movement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time-to-conflict alert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workload indicator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replay timeline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1920240"/>
            <a:ext cx="3063240" cy="2697480"/>
          </a:xfrm>
          <a:prstGeom prst="roundRect">
            <a:avLst/>
          </a:prstGeom>
          <a:solidFill>
            <a:srgbClr val="0D2A55"/>
          </a:solidFill>
          <a:ln w="12700">
            <a:solidFill>
              <a:srgbClr val="214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148840"/>
            <a:ext cx="1188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D7E8FF"/>
                </a:solidFill>
                <a:latin typeface="Aptos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487168"/>
            <a:ext cx="2514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Enhanced prototype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926080"/>
            <a:ext cx="2560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ATC-style speech-to-text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readback mismatch detection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scenario generator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improved workload model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multi-runway support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1920240"/>
            <a:ext cx="3063240" cy="2697480"/>
          </a:xfrm>
          <a:prstGeom prst="roundRect">
            <a:avLst/>
          </a:prstGeom>
          <a:solidFill>
            <a:srgbClr val="0D2A55"/>
          </a:solidFill>
          <a:ln w="12700">
            <a:solidFill>
              <a:srgbClr val="214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2148840"/>
            <a:ext cx="1188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1E9E6E"/>
                </a:solidFill>
                <a:latin typeface="Aptos"/>
              </a:rPr>
              <a:t>PHASE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87168"/>
            <a:ext cx="2514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Future vision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80"/>
            <a:ext cx="2560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airport operation datasets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tower/ground training simulator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safety analytics dashboard</a:t>
            </a:r>
          </a:p>
          <a:p>
            <a:pPr>
              <a:spcAft>
                <a:spcPts val="465"/>
              </a:spcAft>
              <a:defRPr sz="1000">
                <a:solidFill>
                  <a:srgbClr val="D7E8FF"/>
                </a:solidFill>
                <a:latin typeface="Aptos"/>
              </a:defRPr>
            </a:pPr>
            <a:r>
              <a:t>• research path to certified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58384"/>
            <a:ext cx="1060704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ATC FlowLens helps air traffic teams see runway risk before it becomes a runway incident.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016752"/>
            <a:ext cx="106070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D7E8FF"/>
                </a:solidFill>
                <a:latin typeface="Aptos"/>
              </a:rPr>
              <a:t>Agentic Vibing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D7E8FF"/>
                </a:solidFill>
                <a:latin typeface="Aptos"/>
              </a:rPr>
              <a:t>Agentic Vibing  |  ATC FlowLens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D7E8FF"/>
                </a:solidFill>
                <a:latin typeface="Aptos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